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E5FF"/>
                </a:solidFill>
              </a:defRPr>
            </a:pPr>
            <a:r>
              <a:t>Heimdall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E6EDF3"/>
                </a:solidFill>
              </a:defRPr>
            </a:pPr>
            <a:r>
              <a:t>Security Operations &amp; Intrusion Detection Platform</a:t>
            </a:r>
          </a:p>
          <a:p>
            <a:pPr>
              <a:defRPr sz="2000">
                <a:solidFill>
                  <a:srgbClr val="E6EDF3"/>
                </a:solidFill>
              </a:defRPr>
            </a:pPr>
            <a:r>
              <a:t>See Everything. Protect Everyone.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E5FF"/>
                </a:solidFill>
              </a:defRPr>
            </a:pPr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E6EDF3"/>
                </a:solidFill>
              </a:defRPr>
            </a:pPr>
            <a:r>
              <a:t>Modular cybersecurity platform</a:t>
            </a:r>
          </a:p>
          <a:p>
            <a:pPr>
              <a:defRPr sz="2000">
                <a:solidFill>
                  <a:srgbClr val="E6EDF3"/>
                </a:solidFill>
              </a:defRPr>
            </a:pPr>
            <a:r>
              <a:t>Log analysis</a:t>
            </a:r>
          </a:p>
          <a:p>
            <a:pPr>
              <a:defRPr sz="2000">
                <a:solidFill>
                  <a:srgbClr val="E6EDF3"/>
                </a:solidFill>
              </a:defRPr>
            </a:pPr>
            <a:r>
              <a:t>IDS</a:t>
            </a:r>
          </a:p>
          <a:p>
            <a:pPr>
              <a:defRPr sz="2000">
                <a:solidFill>
                  <a:srgbClr val="E6EDF3"/>
                </a:solidFill>
              </a:defRPr>
            </a:pPr>
            <a:r>
              <a:t>Infrastructure monitoring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E5FF"/>
                </a:solidFill>
              </a:defRPr>
            </a:pPr>
            <a:r>
              <a:t>Project Vision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E6EDF3"/>
                </a:solidFill>
              </a:defRPr>
            </a:pPr>
            <a:r>
              <a:t>Real-time visibility</a:t>
            </a:r>
          </a:p>
          <a:p>
            <a:pPr>
              <a:defRPr sz="2000">
                <a:solidFill>
                  <a:srgbClr val="E6EDF3"/>
                </a:solidFill>
              </a:defRPr>
            </a:pPr>
            <a:r>
              <a:t>Threat detection</a:t>
            </a:r>
          </a:p>
          <a:p>
            <a:pPr>
              <a:defRPr sz="2000">
                <a:solidFill>
                  <a:srgbClr val="E6EDF3"/>
                </a:solidFill>
              </a:defRPr>
            </a:pPr>
            <a:r>
              <a:t>System health monitoring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E5FF"/>
                </a:solidFill>
              </a:defRPr>
            </a:pPr>
            <a:r>
              <a:t>Core Components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E6EDF3"/>
                </a:solidFill>
              </a:defRPr>
            </a:pPr>
            <a:r>
              <a:t>Log Ingestion</a:t>
            </a:r>
          </a:p>
          <a:p>
            <a:pPr>
              <a:defRPr sz="2000">
                <a:solidFill>
                  <a:srgbClr val="E6EDF3"/>
                </a:solidFill>
              </a:defRPr>
            </a:pPr>
            <a:r>
              <a:t>IDS</a:t>
            </a:r>
          </a:p>
          <a:p>
            <a:pPr>
              <a:defRPr sz="2000">
                <a:solidFill>
                  <a:srgbClr val="E6EDF3"/>
                </a:solidFill>
              </a:defRPr>
            </a:pPr>
            <a:r>
              <a:t>Alerting</a:t>
            </a:r>
          </a:p>
          <a:p>
            <a:pPr>
              <a:defRPr sz="2000">
                <a:solidFill>
                  <a:srgbClr val="E6EDF3"/>
                </a:solidFill>
              </a:defRPr>
            </a:pPr>
            <a:r>
              <a:t>Monitoring</a:t>
            </a:r>
          </a:p>
          <a:p>
            <a:pPr>
              <a:defRPr sz="2000">
                <a:solidFill>
                  <a:srgbClr val="E6EDF3"/>
                </a:solidFill>
              </a:defRPr>
            </a:pPr>
            <a:r>
              <a:t>Correlation</a:t>
            </a:r>
          </a:p>
          <a:p>
            <a:pPr>
              <a:defRPr sz="2000">
                <a:solidFill>
                  <a:srgbClr val="E6EDF3"/>
                </a:solidFill>
              </a:defRPr>
            </a:pPr>
            <a:r>
              <a:t>Dashboard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E5FF"/>
                </a:solidFill>
              </a:defRPr>
            </a:pPr>
            <a:r>
              <a:t>Log Ingestion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E6EDF3"/>
                </a:solidFill>
              </a:defRPr>
            </a:pPr>
            <a:r>
              <a:t>Reads raw logs</a:t>
            </a:r>
          </a:p>
          <a:p>
            <a:pPr>
              <a:defRPr sz="2000">
                <a:solidFill>
                  <a:srgbClr val="E6EDF3"/>
                </a:solidFill>
              </a:defRPr>
            </a:pPr>
            <a:r>
              <a:t>Converts into structured data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E5FF"/>
                </a:solidFill>
              </a:defRPr>
            </a:pPr>
            <a:r>
              <a:t>IDS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E6EDF3"/>
                </a:solidFill>
              </a:defRPr>
            </a:pPr>
            <a:r>
              <a:t>Detects suspicious patterns</a:t>
            </a:r>
          </a:p>
          <a:p>
            <a:pPr>
              <a:defRPr sz="2000">
                <a:solidFill>
                  <a:srgbClr val="E6EDF3"/>
                </a:solidFill>
              </a:defRPr>
            </a:pPr>
            <a:r>
              <a:t>Brute force</a:t>
            </a:r>
          </a:p>
          <a:p>
            <a:pPr>
              <a:defRPr sz="2000">
                <a:solidFill>
                  <a:srgbClr val="E6EDF3"/>
                </a:solidFill>
              </a:defRPr>
            </a:pPr>
            <a:r>
              <a:t>IP anomalies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E5FF"/>
                </a:solidFill>
              </a:defRPr>
            </a:pPr>
            <a:r>
              <a:t>Alerting Engine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E6EDF3"/>
                </a:solidFill>
              </a:defRPr>
            </a:pPr>
            <a:r>
              <a:t>Generates alerts</a:t>
            </a:r>
          </a:p>
          <a:p>
            <a:pPr>
              <a:defRPr sz="2000">
                <a:solidFill>
                  <a:srgbClr val="E6EDF3"/>
                </a:solidFill>
              </a:defRPr>
            </a:pPr>
            <a:r>
              <a:t>Severity levels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E5FF"/>
                </a:solidFill>
              </a:defRPr>
            </a:pPr>
            <a:r>
              <a:t>Infrastructure Monitoring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E6EDF3"/>
                </a:solidFill>
              </a:defRPr>
            </a:pPr>
            <a:r>
              <a:t>Tracks machines and services</a:t>
            </a:r>
          </a:p>
          <a:p>
            <a:pPr>
              <a:defRPr sz="2000">
                <a:solidFill>
                  <a:srgbClr val="E6EDF3"/>
                </a:solidFill>
              </a:defRPr>
            </a:pPr>
            <a:r>
              <a:t>Agentless + Agent-based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E5FF"/>
                </a:solidFill>
              </a:defRPr>
            </a:pPr>
            <a:r>
              <a:t>Agentless Monitoring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E6EDF3"/>
                </a:solidFill>
              </a:defRPr>
            </a:pPr>
            <a:r>
              <a:t>Polling via TCP/HTTP</a:t>
            </a:r>
          </a:p>
          <a:p>
            <a:pPr>
              <a:defRPr sz="2000">
                <a:solidFill>
                  <a:srgbClr val="E6EDF3"/>
                </a:solidFill>
              </a:defRPr>
            </a:pPr>
            <a:r>
              <a:t>No installation required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E5FF"/>
                </a:solidFill>
              </a:defRPr>
            </a:pPr>
            <a:r>
              <a:t>Agent-Based Monitoring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E6EDF3"/>
                </a:solidFill>
              </a:defRPr>
            </a:pPr>
            <a:r>
              <a:t>Heartbeat signals</a:t>
            </a:r>
          </a:p>
          <a:p>
            <a:pPr>
              <a:defRPr sz="2000">
                <a:solidFill>
                  <a:srgbClr val="E6EDF3"/>
                </a:solidFill>
              </a:defRPr>
            </a:pPr>
            <a:r>
              <a:t>Metrics collection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E5FF"/>
                </a:solidFill>
              </a:defRPr>
            </a:pPr>
            <a:r>
              <a:t>Monitoring Core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E6EDF3"/>
                </a:solidFill>
              </a:defRPr>
            </a:pPr>
            <a:r>
              <a:t>Processes monitoring data</a:t>
            </a:r>
          </a:p>
          <a:p>
            <a:pPr>
              <a:defRPr sz="2000">
                <a:solidFill>
                  <a:srgbClr val="E6EDF3"/>
                </a:solidFill>
              </a:defRPr>
            </a:pPr>
            <a:r>
              <a:t>UP/DOWN/DEGRADED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E5FF"/>
                </a:solidFill>
              </a:defRPr>
            </a:pPr>
            <a:r>
              <a:t>Correlation Layer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E6EDF3"/>
                </a:solidFill>
              </a:defRPr>
            </a:pPr>
            <a:r>
              <a:t>Combines logs + monitoring</a:t>
            </a:r>
          </a:p>
          <a:p>
            <a:pPr>
              <a:defRPr sz="2000">
                <a:solidFill>
                  <a:srgbClr val="E6EDF3"/>
                </a:solidFill>
              </a:defRPr>
            </a:pPr>
            <a:r>
              <a:t>Detects complex issues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E5FF"/>
                </a:solidFill>
              </a:defRPr>
            </a:pPr>
            <a:r>
              <a:t>SOC 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E6EDF3"/>
                </a:solidFill>
              </a:defRPr>
            </a:pPr>
            <a:r>
              <a:t>Visualizes alerts</a:t>
            </a:r>
          </a:p>
          <a:p>
            <a:pPr>
              <a:defRPr sz="2000">
                <a:solidFill>
                  <a:srgbClr val="E6EDF3"/>
                </a:solidFill>
              </a:defRPr>
            </a:pPr>
            <a:r>
              <a:t>System status</a:t>
            </a:r>
          </a:p>
          <a:p>
            <a:pPr>
              <a:defRPr sz="2000">
                <a:solidFill>
                  <a:srgbClr val="E6EDF3"/>
                </a:solidFill>
              </a:defRPr>
            </a:pPr>
            <a:r>
              <a:t>Charts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E5FF"/>
                </a:solidFill>
              </a:defRPr>
            </a:pPr>
            <a:r>
              <a:t>Alert Types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E6EDF3"/>
                </a:solidFill>
              </a:defRPr>
            </a:pPr>
            <a:r>
              <a:t>Security</a:t>
            </a:r>
          </a:p>
          <a:p>
            <a:pPr>
              <a:defRPr sz="2000">
                <a:solidFill>
                  <a:srgbClr val="E6EDF3"/>
                </a:solidFill>
              </a:defRPr>
            </a:pPr>
            <a:r>
              <a:t>Infrastructure</a:t>
            </a:r>
          </a:p>
          <a:p>
            <a:pPr>
              <a:defRPr sz="2000">
                <a:solidFill>
                  <a:srgbClr val="E6EDF3"/>
                </a:solidFill>
              </a:defRPr>
            </a:pPr>
            <a:r>
              <a:t>Performance</a:t>
            </a:r>
          </a:p>
          <a:p>
            <a:pPr>
              <a:defRPr sz="2000">
                <a:solidFill>
                  <a:srgbClr val="E6EDF3"/>
                </a:solidFill>
              </a:defRPr>
            </a:pPr>
            <a:r>
              <a:t>Correlated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E5FF"/>
                </a:solidFill>
              </a:defRPr>
            </a:pPr>
            <a:r>
              <a:t>Detection Rules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E6EDF3"/>
                </a:solidFill>
              </a:defRPr>
            </a:pPr>
            <a:r>
              <a:t>Failed logins</a:t>
            </a:r>
          </a:p>
          <a:p>
            <a:pPr>
              <a:defRPr sz="2000">
                <a:solidFill>
                  <a:srgbClr val="E6EDF3"/>
                </a:solidFill>
              </a:defRPr>
            </a:pPr>
            <a:r>
              <a:t>Server down</a:t>
            </a:r>
          </a:p>
          <a:p>
            <a:pPr>
              <a:defRPr sz="2000">
                <a:solidFill>
                  <a:srgbClr val="E6EDF3"/>
                </a:solidFill>
              </a:defRPr>
            </a:pPr>
            <a:r>
              <a:t>High latency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E5FF"/>
                </a:solidFill>
              </a:defRPr>
            </a:pPr>
            <a:r>
              <a:t>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E6EDF3"/>
                </a:solidFill>
              </a:defRPr>
            </a:pPr>
            <a:r>
              <a:t>Data → Processing → Alerts → Dashboard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E5FF"/>
                </a:solidFill>
              </a:defRPr>
            </a:pPr>
            <a:r>
              <a:t>What You Will Build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E6EDF3"/>
                </a:solidFill>
              </a:defRPr>
            </a:pPr>
            <a:r>
              <a:t>Backend</a:t>
            </a:r>
          </a:p>
          <a:p>
            <a:pPr>
              <a:defRPr sz="2000">
                <a:solidFill>
                  <a:srgbClr val="E6EDF3"/>
                </a:solidFill>
              </a:defRPr>
            </a:pPr>
            <a:r>
              <a:t>Monitoring</a:t>
            </a:r>
          </a:p>
          <a:p>
            <a:pPr>
              <a:defRPr sz="2000">
                <a:solidFill>
                  <a:srgbClr val="E6EDF3"/>
                </a:solidFill>
              </a:defRPr>
            </a:pPr>
            <a:r>
              <a:t>Detection</a:t>
            </a:r>
          </a:p>
          <a:p>
            <a:pPr>
              <a:defRPr sz="2000">
                <a:solidFill>
                  <a:srgbClr val="E6EDF3"/>
                </a:solidFill>
              </a:defRPr>
            </a:pPr>
            <a:r>
              <a:t>Dashboard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E5FF"/>
                </a:solidFill>
              </a:defRPr>
            </a:pPr>
            <a:r>
              <a:t>What You Will Learn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E6EDF3"/>
                </a:solidFill>
              </a:defRPr>
            </a:pPr>
            <a:r>
              <a:t>Backend dev</a:t>
            </a:r>
          </a:p>
          <a:p>
            <a:pPr>
              <a:defRPr sz="2000">
                <a:solidFill>
                  <a:srgbClr val="E6EDF3"/>
                </a:solidFill>
              </a:defRPr>
            </a:pPr>
            <a:r>
              <a:t>System design</a:t>
            </a:r>
          </a:p>
          <a:p>
            <a:pPr>
              <a:defRPr sz="2000">
                <a:solidFill>
                  <a:srgbClr val="E6EDF3"/>
                </a:solidFill>
              </a:defRPr>
            </a:pPr>
            <a:r>
              <a:t>Security basics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E5FF"/>
                </a:solidFill>
              </a:defRPr>
            </a:pPr>
            <a:r>
              <a:t>Why It Matters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E6EDF3"/>
                </a:solidFill>
              </a:defRPr>
            </a:pPr>
            <a:r>
              <a:t>Real SOC simulation</a:t>
            </a:r>
          </a:p>
          <a:p>
            <a:pPr>
              <a:defRPr sz="2000">
                <a:solidFill>
                  <a:srgbClr val="E6EDF3"/>
                </a:solidFill>
              </a:defRPr>
            </a:pPr>
            <a:r>
              <a:t>Multi-domain project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E5FF"/>
                </a:solidFill>
              </a:defRPr>
            </a:pPr>
            <a:r>
              <a:t>Final Goal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E6EDF3"/>
                </a:solidFill>
              </a:defRPr>
            </a:pPr>
            <a:r>
              <a:t>What is happening?</a:t>
            </a:r>
          </a:p>
          <a:p>
            <a:pPr>
              <a:defRPr sz="2000">
                <a:solidFill>
                  <a:srgbClr val="E6EDF3"/>
                </a:solidFill>
              </a:defRPr>
            </a:pPr>
            <a:r>
              <a:t>Is it dangerous?</a:t>
            </a:r>
          </a:p>
          <a:p>
            <a:pPr>
              <a:defRPr sz="2000">
                <a:solidFill>
                  <a:srgbClr val="E6EDF3"/>
                </a:solidFill>
              </a:defRPr>
            </a:pPr>
            <a:r>
              <a:t>Is system alive?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